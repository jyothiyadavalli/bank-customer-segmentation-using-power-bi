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grandir" panose="020B0604020202020204" charset="0"/>
      <p:regular r:id="rId16"/>
    </p:embeddedFont>
    <p:embeddedFont>
      <p:font typeface="Agrandir Bold" panose="020B0604020202020204" charset="0"/>
      <p:regular r:id="rId17"/>
    </p:embeddedFont>
    <p:embeddedFont>
      <p:font typeface="HK Modular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468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linkedin.com/in/jyothi-yadavalli-202a4a315" TargetMode="Externa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99689" y="6869128"/>
            <a:ext cx="4092194" cy="3267459"/>
          </a:xfrm>
          <a:custGeom>
            <a:avLst/>
            <a:gdLst/>
            <a:ahLst/>
            <a:cxnLst/>
            <a:rect l="l" t="t" r="r" b="b"/>
            <a:pathLst>
              <a:path w="4092194" h="3267459">
                <a:moveTo>
                  <a:pt x="0" y="0"/>
                </a:moveTo>
                <a:lnTo>
                  <a:pt x="4092194" y="0"/>
                </a:lnTo>
                <a:lnTo>
                  <a:pt x="4092194" y="3267460"/>
                </a:lnTo>
                <a:lnTo>
                  <a:pt x="0" y="3267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480127" y="7749866"/>
            <a:ext cx="3215262" cy="2537134"/>
          </a:xfrm>
          <a:custGeom>
            <a:avLst/>
            <a:gdLst/>
            <a:ahLst/>
            <a:cxnLst/>
            <a:rect l="l" t="t" r="r" b="b"/>
            <a:pathLst>
              <a:path w="3215262" h="2537134">
                <a:moveTo>
                  <a:pt x="0" y="0"/>
                </a:moveTo>
                <a:lnTo>
                  <a:pt x="3215262" y="0"/>
                </a:lnTo>
                <a:lnTo>
                  <a:pt x="3215262" y="2537134"/>
                </a:lnTo>
                <a:lnTo>
                  <a:pt x="0" y="25371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542073" y="7772988"/>
            <a:ext cx="3128389" cy="2468583"/>
          </a:xfrm>
          <a:custGeom>
            <a:avLst/>
            <a:gdLst/>
            <a:ahLst/>
            <a:cxnLst/>
            <a:rect l="l" t="t" r="r" b="b"/>
            <a:pathLst>
              <a:path w="3128389" h="2468583">
                <a:moveTo>
                  <a:pt x="3128389" y="0"/>
                </a:moveTo>
                <a:lnTo>
                  <a:pt x="0" y="0"/>
                </a:lnTo>
                <a:lnTo>
                  <a:pt x="0" y="2468583"/>
                </a:lnTo>
                <a:lnTo>
                  <a:pt x="3128389" y="2468583"/>
                </a:lnTo>
                <a:lnTo>
                  <a:pt x="312838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090287" y="7043117"/>
            <a:ext cx="1982364" cy="1459741"/>
          </a:xfrm>
          <a:custGeom>
            <a:avLst/>
            <a:gdLst/>
            <a:ahLst/>
            <a:cxnLst/>
            <a:rect l="l" t="t" r="r" b="b"/>
            <a:pathLst>
              <a:path w="1982364" h="1459741">
                <a:moveTo>
                  <a:pt x="0" y="0"/>
                </a:moveTo>
                <a:lnTo>
                  <a:pt x="1982363" y="0"/>
                </a:lnTo>
                <a:lnTo>
                  <a:pt x="1982363" y="1459741"/>
                </a:lnTo>
                <a:lnTo>
                  <a:pt x="0" y="14597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3218922" y="7039089"/>
            <a:ext cx="1919564" cy="1413497"/>
          </a:xfrm>
          <a:custGeom>
            <a:avLst/>
            <a:gdLst/>
            <a:ahLst/>
            <a:cxnLst/>
            <a:rect l="l" t="t" r="r" b="b"/>
            <a:pathLst>
              <a:path w="1919564" h="1413497">
                <a:moveTo>
                  <a:pt x="1919564" y="0"/>
                </a:moveTo>
                <a:lnTo>
                  <a:pt x="0" y="0"/>
                </a:lnTo>
                <a:lnTo>
                  <a:pt x="0" y="1413497"/>
                </a:lnTo>
                <a:lnTo>
                  <a:pt x="1919564" y="1413497"/>
                </a:lnTo>
                <a:lnTo>
                  <a:pt x="191956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0"/>
            <a:ext cx="18008965" cy="2753978"/>
          </a:xfrm>
          <a:custGeom>
            <a:avLst/>
            <a:gdLst/>
            <a:ahLst/>
            <a:cxnLst/>
            <a:rect l="l" t="t" r="r" b="b"/>
            <a:pathLst>
              <a:path w="18008965" h="2753978">
                <a:moveTo>
                  <a:pt x="0" y="0"/>
                </a:moveTo>
                <a:lnTo>
                  <a:pt x="18008965" y="0"/>
                </a:lnTo>
                <a:lnTo>
                  <a:pt x="18008965" y="2753978"/>
                </a:lnTo>
                <a:lnTo>
                  <a:pt x="0" y="27539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91" t="-23017" b="-225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73301" y="5215579"/>
            <a:ext cx="16741398" cy="99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66"/>
              </a:lnSpc>
              <a:spcBef>
                <a:spcPct val="0"/>
              </a:spcBef>
            </a:pPr>
            <a:r>
              <a:rPr lang="en-US" sz="5833">
                <a:solidFill>
                  <a:srgbClr val="010101"/>
                </a:solidFill>
                <a:latin typeface="HK Modular"/>
                <a:ea typeface="HK Modular"/>
                <a:cs typeface="HK Modular"/>
                <a:sym typeface="HK Modular"/>
              </a:rPr>
              <a:t>BANK CUSTOMER SEGMENTATION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7902" y="3645435"/>
            <a:ext cx="16741398" cy="855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6"/>
              </a:lnSpc>
              <a:spcBef>
                <a:spcPct val="0"/>
              </a:spcBef>
            </a:pPr>
            <a:r>
              <a:rPr lang="en-US" sz="4933">
                <a:solidFill>
                  <a:srgbClr val="7055A7"/>
                </a:solidFill>
                <a:latin typeface="HK Modular"/>
                <a:ea typeface="HK Modular"/>
                <a:cs typeface="HK Modular"/>
                <a:sym typeface="HK Modular"/>
              </a:rPr>
              <a:t>PROJECT 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29235" y="1486578"/>
            <a:ext cx="9779374" cy="587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6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4178704" y="8323264"/>
            <a:ext cx="4731970" cy="249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Presented By: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Name  : Y.JYOTHI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Batch  : 456</a:t>
            </a:r>
          </a:p>
          <a:p>
            <a:pPr algn="l">
              <a:lnSpc>
                <a:spcPts val="3842"/>
              </a:lnSpc>
            </a:pPr>
            <a:r>
              <a:rPr lang="en-US" sz="274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Branch : DILSUKHNAGAR</a:t>
            </a:r>
          </a:p>
          <a:p>
            <a:pPr algn="l">
              <a:lnSpc>
                <a:spcPts val="3842"/>
              </a:lnSpc>
            </a:pPr>
            <a:endParaRPr lang="en-US" sz="2744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14350"/>
            <a:ext cx="18847187" cy="4166192"/>
            <a:chOff x="0" y="0"/>
            <a:chExt cx="4963868" cy="10972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3868" cy="1097269"/>
            </a:xfrm>
            <a:custGeom>
              <a:avLst/>
              <a:gdLst/>
              <a:ahLst/>
              <a:cxnLst/>
              <a:rect l="l" t="t" r="r" b="b"/>
              <a:pathLst>
                <a:path w="4963868" h="1097269">
                  <a:moveTo>
                    <a:pt x="0" y="0"/>
                  </a:moveTo>
                  <a:lnTo>
                    <a:pt x="4963868" y="0"/>
                  </a:lnTo>
                  <a:lnTo>
                    <a:pt x="4963868" y="1097269"/>
                  </a:lnTo>
                  <a:lnTo>
                    <a:pt x="0" y="1097269"/>
                  </a:lnTo>
                  <a:close/>
                </a:path>
              </a:pathLst>
            </a:custGeom>
            <a:solidFill>
              <a:srgbClr val="EFE8F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963868" cy="120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051973" y="122527"/>
            <a:ext cx="9493245" cy="1812347"/>
          </a:xfrm>
          <a:custGeom>
            <a:avLst/>
            <a:gdLst/>
            <a:ahLst/>
            <a:cxnLst/>
            <a:rect l="l" t="t" r="r" b="b"/>
            <a:pathLst>
              <a:path w="9493245" h="1812347">
                <a:moveTo>
                  <a:pt x="0" y="0"/>
                </a:moveTo>
                <a:lnTo>
                  <a:pt x="9493245" y="0"/>
                </a:lnTo>
                <a:lnTo>
                  <a:pt x="9493245" y="1812346"/>
                </a:lnTo>
                <a:lnTo>
                  <a:pt x="0" y="1812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48578" y="5493830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4" y="0"/>
                </a:lnTo>
                <a:lnTo>
                  <a:pt x="6878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51973" y="624091"/>
            <a:ext cx="7838743" cy="94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16"/>
              </a:lnSpc>
              <a:spcBef>
                <a:spcPct val="0"/>
              </a:spcBef>
            </a:pPr>
            <a:r>
              <a:rPr lang="en-US" sz="5511">
                <a:solidFill>
                  <a:srgbClr val="7055A7"/>
                </a:solidFill>
                <a:latin typeface="HK Modular"/>
                <a:ea typeface="HK Modular"/>
                <a:cs typeface="HK Modular"/>
                <a:sym typeface="HK Modular"/>
              </a:rPr>
              <a:t>ABOUT ME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2569" y="2223526"/>
            <a:ext cx="16682862" cy="5630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8"/>
              </a:lnSpc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My name is Jyothi Yadavalli.</a:t>
            </a:r>
          </a:p>
          <a:p>
            <a:pPr algn="l">
              <a:lnSpc>
                <a:spcPts val="6238"/>
              </a:lnSpc>
            </a:pPr>
            <a:endParaRPr lang="en-US" sz="4455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6238"/>
              </a:lnSpc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 have completed my Master of Science (MSc) in Bioinformatics</a:t>
            </a:r>
          </a:p>
          <a:p>
            <a:pPr algn="l">
              <a:lnSpc>
                <a:spcPts val="6238"/>
              </a:lnSpc>
            </a:pPr>
            <a:endParaRPr lang="en-US" sz="4455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6238"/>
              </a:lnSpc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Linked In: </a:t>
            </a:r>
            <a:r>
              <a:rPr lang="en-US" sz="4455" u="sng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  <a:hlinkClick r:id="rId6" tooltip="http://linkedin.com/in/jyothi-yadavalli-202a4a315"/>
              </a:rPr>
              <a:t>linkedin.com/in/jyothi-yadavalli-202a4a315</a:t>
            </a:r>
          </a:p>
          <a:p>
            <a:pPr algn="l">
              <a:lnSpc>
                <a:spcPts val="6238"/>
              </a:lnSpc>
              <a:spcBef>
                <a:spcPct val="0"/>
              </a:spcBef>
            </a:pPr>
            <a:endParaRPr lang="en-US" sz="4455" u="sng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  <a:hlinkClick r:id="rId6" tooltip="http://linkedin.com/in/jyothi-yadavalli-202a4a315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14350"/>
            <a:ext cx="18847187" cy="4166192"/>
            <a:chOff x="0" y="0"/>
            <a:chExt cx="4963868" cy="10972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3868" cy="1097269"/>
            </a:xfrm>
            <a:custGeom>
              <a:avLst/>
              <a:gdLst/>
              <a:ahLst/>
              <a:cxnLst/>
              <a:rect l="l" t="t" r="r" b="b"/>
              <a:pathLst>
                <a:path w="4963868" h="1097269">
                  <a:moveTo>
                    <a:pt x="0" y="0"/>
                  </a:moveTo>
                  <a:lnTo>
                    <a:pt x="4963868" y="0"/>
                  </a:lnTo>
                  <a:lnTo>
                    <a:pt x="4963868" y="1097269"/>
                  </a:lnTo>
                  <a:lnTo>
                    <a:pt x="0" y="1097269"/>
                  </a:lnTo>
                  <a:close/>
                </a:path>
              </a:pathLst>
            </a:custGeom>
            <a:solidFill>
              <a:srgbClr val="EFE8F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963868" cy="120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051973" y="122527"/>
            <a:ext cx="9493245" cy="1812347"/>
          </a:xfrm>
          <a:custGeom>
            <a:avLst/>
            <a:gdLst/>
            <a:ahLst/>
            <a:cxnLst/>
            <a:rect l="l" t="t" r="r" b="b"/>
            <a:pathLst>
              <a:path w="9493245" h="1812347">
                <a:moveTo>
                  <a:pt x="0" y="0"/>
                </a:moveTo>
                <a:lnTo>
                  <a:pt x="9493245" y="0"/>
                </a:lnTo>
                <a:lnTo>
                  <a:pt x="9493245" y="1812346"/>
                </a:lnTo>
                <a:lnTo>
                  <a:pt x="0" y="1812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212949" y="4793575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51973" y="624091"/>
            <a:ext cx="7838743" cy="94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16"/>
              </a:lnSpc>
              <a:spcBef>
                <a:spcPct val="0"/>
              </a:spcBef>
            </a:pPr>
            <a:r>
              <a:rPr lang="en-US" sz="5511">
                <a:solidFill>
                  <a:srgbClr val="7055A7"/>
                </a:solidFill>
                <a:latin typeface="HK Modular"/>
                <a:ea typeface="HK Modular"/>
                <a:cs typeface="HK Modular"/>
                <a:sym typeface="HK Modular"/>
              </a:rPr>
              <a:t>AGENDA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03787" y="2111929"/>
            <a:ext cx="16682862" cy="10630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8"/>
              </a:lnSpc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Introduction</a:t>
            </a:r>
          </a:p>
          <a:p>
            <a:pPr algn="l">
              <a:lnSpc>
                <a:spcPts val="6238"/>
              </a:lnSpc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Business Problem Statement</a:t>
            </a:r>
          </a:p>
          <a:p>
            <a:pPr algn="l">
              <a:lnSpc>
                <a:spcPts val="6238"/>
              </a:lnSpc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Data Overview</a:t>
            </a:r>
          </a:p>
          <a:p>
            <a:pPr algn="l">
              <a:lnSpc>
                <a:spcPts val="6238"/>
              </a:lnSpc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Key Insights</a:t>
            </a:r>
          </a:p>
          <a:p>
            <a:pPr marL="962003" lvl="1" indent="-481001" algn="l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    Customer Demographics</a:t>
            </a:r>
          </a:p>
          <a:p>
            <a:pPr marL="962003" lvl="1" indent="-481001" algn="l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    Transaction Behavior</a:t>
            </a:r>
          </a:p>
          <a:p>
            <a:pPr marL="962003" lvl="1" indent="-481001" algn="l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    Customer Segmentation</a:t>
            </a:r>
          </a:p>
          <a:p>
            <a:pPr marL="962003" lvl="1" indent="-481001" algn="l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     Profitability &amp; Risk</a:t>
            </a:r>
          </a:p>
          <a:p>
            <a:pPr algn="l">
              <a:lnSpc>
                <a:spcPts val="6238"/>
              </a:lnSpc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Recommendations</a:t>
            </a:r>
          </a:p>
          <a:p>
            <a:pPr algn="l">
              <a:lnSpc>
                <a:spcPts val="6238"/>
              </a:lnSpc>
            </a:pPr>
            <a:r>
              <a:rPr lang="en-US" sz="445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Conclusion</a:t>
            </a:r>
          </a:p>
          <a:p>
            <a:pPr algn="l">
              <a:lnSpc>
                <a:spcPts val="6238"/>
              </a:lnSpc>
            </a:pPr>
            <a:endParaRPr lang="en-US" sz="4455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6238"/>
              </a:lnSpc>
            </a:pPr>
            <a:endParaRPr lang="en-US" sz="4455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ctr">
              <a:lnSpc>
                <a:spcPts val="8419"/>
              </a:lnSpc>
              <a:spcBef>
                <a:spcPct val="0"/>
              </a:spcBef>
            </a:pPr>
            <a:endParaRPr lang="en-US" sz="4455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565" y="-552712"/>
            <a:ext cx="19489622" cy="11918248"/>
            <a:chOff x="0" y="0"/>
            <a:chExt cx="5133069" cy="31389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33069" cy="3138962"/>
            </a:xfrm>
            <a:custGeom>
              <a:avLst/>
              <a:gdLst/>
              <a:ahLst/>
              <a:cxnLst/>
              <a:rect l="l" t="t" r="r" b="b"/>
              <a:pathLst>
                <a:path w="5133069" h="3138962">
                  <a:moveTo>
                    <a:pt x="0" y="0"/>
                  </a:moveTo>
                  <a:lnTo>
                    <a:pt x="5133069" y="0"/>
                  </a:lnTo>
                  <a:lnTo>
                    <a:pt x="5133069" y="3138962"/>
                  </a:lnTo>
                  <a:lnTo>
                    <a:pt x="0" y="3138962"/>
                  </a:lnTo>
                  <a:close/>
                </a:path>
              </a:pathLst>
            </a:custGeom>
            <a:solidFill>
              <a:srgbClr val="7055A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5133069" cy="3243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84313" y="478795"/>
            <a:ext cx="10359489" cy="1137410"/>
            <a:chOff x="0" y="0"/>
            <a:chExt cx="2389563" cy="262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9563" cy="262360"/>
            </a:xfrm>
            <a:custGeom>
              <a:avLst/>
              <a:gdLst/>
              <a:ahLst/>
              <a:cxnLst/>
              <a:rect l="l" t="t" r="r" b="b"/>
              <a:pathLst>
                <a:path w="2389563" h="262360">
                  <a:moveTo>
                    <a:pt x="2186363" y="0"/>
                  </a:moveTo>
                  <a:cubicBezTo>
                    <a:pt x="2298587" y="0"/>
                    <a:pt x="2389563" y="58731"/>
                    <a:pt x="2389563" y="131180"/>
                  </a:cubicBezTo>
                  <a:cubicBezTo>
                    <a:pt x="2389563" y="203629"/>
                    <a:pt x="2298587" y="262360"/>
                    <a:pt x="2186363" y="262360"/>
                  </a:cubicBezTo>
                  <a:lnTo>
                    <a:pt x="203200" y="262360"/>
                  </a:lnTo>
                  <a:cubicBezTo>
                    <a:pt x="90976" y="262360"/>
                    <a:pt x="0" y="203629"/>
                    <a:pt x="0" y="131180"/>
                  </a:cubicBezTo>
                  <a:cubicBezTo>
                    <a:pt x="0" y="58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89563" cy="300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245234" y="2667755"/>
            <a:ext cx="5031197" cy="6405459"/>
          </a:xfrm>
          <a:custGeom>
            <a:avLst/>
            <a:gdLst/>
            <a:ahLst/>
            <a:cxnLst/>
            <a:rect l="l" t="t" r="r" b="b"/>
            <a:pathLst>
              <a:path w="5031197" h="6405459">
                <a:moveTo>
                  <a:pt x="0" y="0"/>
                </a:moveTo>
                <a:lnTo>
                  <a:pt x="5031197" y="0"/>
                </a:lnTo>
                <a:lnTo>
                  <a:pt x="5031197" y="6405459"/>
                </a:lnTo>
                <a:lnTo>
                  <a:pt x="0" y="640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45455" y="1182484"/>
            <a:ext cx="3725697" cy="2743468"/>
          </a:xfrm>
          <a:custGeom>
            <a:avLst/>
            <a:gdLst/>
            <a:ahLst/>
            <a:cxnLst/>
            <a:rect l="l" t="t" r="r" b="b"/>
            <a:pathLst>
              <a:path w="3725697" h="2743468">
                <a:moveTo>
                  <a:pt x="0" y="0"/>
                </a:moveTo>
                <a:lnTo>
                  <a:pt x="3725697" y="0"/>
                </a:lnTo>
                <a:lnTo>
                  <a:pt x="3725697" y="2743468"/>
                </a:lnTo>
                <a:lnTo>
                  <a:pt x="0" y="2743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828175" y="1977734"/>
            <a:ext cx="13431125" cy="7785501"/>
            <a:chOff x="0" y="0"/>
            <a:chExt cx="3537416" cy="20505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37415" cy="2050502"/>
            </a:xfrm>
            <a:custGeom>
              <a:avLst/>
              <a:gdLst/>
              <a:ahLst/>
              <a:cxnLst/>
              <a:rect l="l" t="t" r="r" b="b"/>
              <a:pathLst>
                <a:path w="3537415" h="2050502">
                  <a:moveTo>
                    <a:pt x="29397" y="0"/>
                  </a:moveTo>
                  <a:lnTo>
                    <a:pt x="3508018" y="0"/>
                  </a:lnTo>
                  <a:cubicBezTo>
                    <a:pt x="3524254" y="0"/>
                    <a:pt x="3537415" y="13162"/>
                    <a:pt x="3537415" y="29397"/>
                  </a:cubicBezTo>
                  <a:lnTo>
                    <a:pt x="3537415" y="2021105"/>
                  </a:lnTo>
                  <a:cubicBezTo>
                    <a:pt x="3537415" y="2037341"/>
                    <a:pt x="3524254" y="2050502"/>
                    <a:pt x="3508018" y="2050502"/>
                  </a:cubicBezTo>
                  <a:lnTo>
                    <a:pt x="29397" y="2050502"/>
                  </a:lnTo>
                  <a:cubicBezTo>
                    <a:pt x="21601" y="2050502"/>
                    <a:pt x="14123" y="2047405"/>
                    <a:pt x="8610" y="2041892"/>
                  </a:cubicBezTo>
                  <a:cubicBezTo>
                    <a:pt x="3097" y="2036379"/>
                    <a:pt x="0" y="2028902"/>
                    <a:pt x="0" y="2021105"/>
                  </a:cubicBezTo>
                  <a:lnTo>
                    <a:pt x="0" y="29397"/>
                  </a:lnTo>
                  <a:cubicBezTo>
                    <a:pt x="0" y="13162"/>
                    <a:pt x="13162" y="0"/>
                    <a:pt x="29397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3537416" cy="2155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326210" y="427897"/>
            <a:ext cx="6486906" cy="21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50"/>
              </a:lnSpc>
            </a:pPr>
            <a:r>
              <a:rPr lang="en-US" sz="6179" b="1">
                <a:solidFill>
                  <a:srgbClr val="7055A7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</a:t>
            </a:r>
          </a:p>
          <a:p>
            <a:pPr algn="ctr">
              <a:lnSpc>
                <a:spcPts val="6936"/>
              </a:lnSpc>
              <a:spcBef>
                <a:spcPct val="0"/>
              </a:spcBef>
            </a:pPr>
            <a:endParaRPr lang="en-US" sz="6179" b="1">
              <a:solidFill>
                <a:srgbClr val="7055A7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333581" y="2373243"/>
            <a:ext cx="12925719" cy="7626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7065" lvl="1" indent="-418532" algn="l">
              <a:lnSpc>
                <a:spcPts val="5427"/>
              </a:lnSpc>
              <a:buFont typeface="Arial"/>
              <a:buChar char="•"/>
            </a:pPr>
            <a:r>
              <a:rPr lang="en-US" sz="387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Banks generate a large amount of customer and transaction data every day.</a:t>
            </a:r>
          </a:p>
          <a:p>
            <a:pPr marL="837065" lvl="1" indent="-418532" algn="l">
              <a:lnSpc>
                <a:spcPts val="5427"/>
              </a:lnSpc>
              <a:buFont typeface="Arial"/>
              <a:buChar char="•"/>
            </a:pPr>
            <a:r>
              <a:rPr lang="en-US" sz="387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Analyzing this data helps banks understand customer behavior, spending habits, and risk levels.</a:t>
            </a:r>
          </a:p>
          <a:p>
            <a:pPr marL="837065" lvl="1" indent="-418532" algn="l">
              <a:lnSpc>
                <a:spcPts val="5427"/>
              </a:lnSpc>
              <a:buFont typeface="Arial"/>
              <a:buChar char="•"/>
            </a:pPr>
            <a:r>
              <a:rPr lang="en-US" sz="387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This project uses Power BI to segment bank customers and convert raw data into useful insights.</a:t>
            </a:r>
          </a:p>
          <a:p>
            <a:pPr marL="837065" lvl="1" indent="-418532" algn="l">
              <a:lnSpc>
                <a:spcPts val="5427"/>
              </a:lnSpc>
              <a:spcBef>
                <a:spcPct val="0"/>
              </a:spcBef>
              <a:buFont typeface="Arial"/>
              <a:buChar char="•"/>
            </a:pPr>
            <a:r>
              <a:rPr lang="en-US" sz="387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The analysis supports better decisions for customer retention, increasing revenue, and managing risk.</a:t>
            </a:r>
          </a:p>
          <a:p>
            <a:pPr algn="l">
              <a:lnSpc>
                <a:spcPts val="5427"/>
              </a:lnSpc>
              <a:spcBef>
                <a:spcPct val="0"/>
              </a:spcBef>
            </a:pPr>
            <a:endParaRPr lang="en-US" sz="3877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73032"/>
            <a:ext cx="17227088" cy="9955237"/>
            <a:chOff x="0" y="0"/>
            <a:chExt cx="4537175" cy="26219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7175" cy="2621955"/>
            </a:xfrm>
            <a:custGeom>
              <a:avLst/>
              <a:gdLst/>
              <a:ahLst/>
              <a:cxnLst/>
              <a:rect l="l" t="t" r="r" b="b"/>
              <a:pathLst>
                <a:path w="4537175" h="2621955">
                  <a:moveTo>
                    <a:pt x="22920" y="0"/>
                  </a:moveTo>
                  <a:lnTo>
                    <a:pt x="4514256" y="0"/>
                  </a:lnTo>
                  <a:cubicBezTo>
                    <a:pt x="4526914" y="0"/>
                    <a:pt x="4537175" y="10261"/>
                    <a:pt x="4537175" y="22920"/>
                  </a:cubicBezTo>
                  <a:lnTo>
                    <a:pt x="4537175" y="2599036"/>
                  </a:lnTo>
                  <a:cubicBezTo>
                    <a:pt x="4537175" y="2605114"/>
                    <a:pt x="4534761" y="2610944"/>
                    <a:pt x="4530462" y="2615243"/>
                  </a:cubicBezTo>
                  <a:cubicBezTo>
                    <a:pt x="4526164" y="2619541"/>
                    <a:pt x="4520335" y="2621955"/>
                    <a:pt x="4514256" y="2621955"/>
                  </a:cubicBezTo>
                  <a:lnTo>
                    <a:pt x="22920" y="2621955"/>
                  </a:lnTo>
                  <a:cubicBezTo>
                    <a:pt x="16841" y="2621955"/>
                    <a:pt x="11011" y="2619541"/>
                    <a:pt x="6713" y="2615243"/>
                  </a:cubicBezTo>
                  <a:cubicBezTo>
                    <a:pt x="2415" y="2610944"/>
                    <a:pt x="0" y="2605114"/>
                    <a:pt x="0" y="2599036"/>
                  </a:cubicBezTo>
                  <a:lnTo>
                    <a:pt x="0" y="22920"/>
                  </a:lnTo>
                  <a:cubicBezTo>
                    <a:pt x="0" y="16841"/>
                    <a:pt x="2415" y="11011"/>
                    <a:pt x="6713" y="6713"/>
                  </a:cubicBezTo>
                  <a:cubicBezTo>
                    <a:pt x="11011" y="2415"/>
                    <a:pt x="16841" y="0"/>
                    <a:pt x="22920" y="0"/>
                  </a:cubicBezTo>
                  <a:close/>
                </a:path>
              </a:pathLst>
            </a:custGeom>
            <a:solidFill>
              <a:srgbClr val="EFE8F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537175" cy="2726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3700369" y="6172200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579176" y="3322156"/>
            <a:ext cx="5518274" cy="5759109"/>
          </a:xfrm>
          <a:custGeom>
            <a:avLst/>
            <a:gdLst/>
            <a:ahLst/>
            <a:cxnLst/>
            <a:rect l="l" t="t" r="r" b="b"/>
            <a:pathLst>
              <a:path w="5518274" h="5759109">
                <a:moveTo>
                  <a:pt x="0" y="0"/>
                </a:moveTo>
                <a:lnTo>
                  <a:pt x="5518274" y="0"/>
                </a:lnTo>
                <a:lnTo>
                  <a:pt x="5518274" y="5759109"/>
                </a:lnTo>
                <a:lnTo>
                  <a:pt x="0" y="5759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634310" y="2385831"/>
            <a:ext cx="8278453" cy="936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16"/>
              </a:lnSpc>
              <a:spcBef>
                <a:spcPct val="0"/>
              </a:spcBef>
            </a:pPr>
            <a:r>
              <a:rPr lang="en-US" sz="5511">
                <a:solidFill>
                  <a:srgbClr val="EFE8FE"/>
                </a:solidFill>
                <a:latin typeface="HK Modular"/>
                <a:ea typeface="HK Modular"/>
                <a:cs typeface="HK Modular"/>
                <a:sym typeface="HK Modular"/>
              </a:rPr>
              <a:t>TRADE WAYS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09452" y="1865846"/>
            <a:ext cx="15031986" cy="816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4856" lvl="1" indent="-447428" algn="l">
              <a:lnSpc>
                <a:spcPts val="5802"/>
              </a:lnSpc>
              <a:buFont typeface="Arial"/>
              <a:buChar char="•"/>
            </a:pPr>
            <a:r>
              <a:rPr lang="en-US" sz="4144">
                <a:solidFill>
                  <a:srgbClr val="010101"/>
                </a:solidFill>
                <a:latin typeface="Agrandir"/>
                <a:ea typeface="Agrandir"/>
                <a:cs typeface="Agrandir"/>
                <a:sym typeface="Agrandir"/>
              </a:rPr>
              <a:t>To understand customer details like age, gender, and location through clear visual analysis.</a:t>
            </a:r>
          </a:p>
          <a:p>
            <a:pPr marL="894856" lvl="1" indent="-447428" algn="l">
              <a:lnSpc>
                <a:spcPts val="5802"/>
              </a:lnSpc>
              <a:buFont typeface="Arial"/>
              <a:buChar char="•"/>
            </a:pPr>
            <a:r>
              <a:rPr lang="en-US" sz="4144">
                <a:solidFill>
                  <a:srgbClr val="010101"/>
                </a:solidFill>
                <a:latin typeface="Agrandir"/>
                <a:ea typeface="Agrandir"/>
                <a:cs typeface="Agrandir"/>
                <a:sym typeface="Agrandir"/>
              </a:rPr>
              <a:t>To study how customers spend and how their transactions change over time.</a:t>
            </a:r>
          </a:p>
          <a:p>
            <a:pPr marL="894856" lvl="1" indent="-447428" algn="l">
              <a:lnSpc>
                <a:spcPts val="5802"/>
              </a:lnSpc>
              <a:buFont typeface="Arial"/>
              <a:buChar char="•"/>
            </a:pPr>
            <a:r>
              <a:rPr lang="en-US" sz="4144">
                <a:solidFill>
                  <a:srgbClr val="010101"/>
                </a:solidFill>
                <a:latin typeface="Agrandir"/>
                <a:ea typeface="Agrandir"/>
                <a:cs typeface="Agrandir"/>
                <a:sym typeface="Agrandir"/>
              </a:rPr>
              <a:t>To divide customers into groups such as Loyal, New, and Lost using RFM analysis.</a:t>
            </a:r>
          </a:p>
          <a:p>
            <a:pPr marL="894856" lvl="1" indent="-447428" algn="l">
              <a:lnSpc>
                <a:spcPts val="5802"/>
              </a:lnSpc>
              <a:buFont typeface="Arial"/>
              <a:buChar char="•"/>
            </a:pPr>
            <a:r>
              <a:rPr lang="en-US" sz="4144">
                <a:solidFill>
                  <a:srgbClr val="010101"/>
                </a:solidFill>
                <a:latin typeface="Agrandir"/>
                <a:ea typeface="Agrandir"/>
                <a:cs typeface="Agrandir"/>
                <a:sym typeface="Agrandir"/>
              </a:rPr>
              <a:t>To find out which customers bring more profit and which ones may have higher risk.</a:t>
            </a:r>
          </a:p>
          <a:p>
            <a:pPr marL="894856" lvl="1" indent="-447428" algn="l">
              <a:lnSpc>
                <a:spcPts val="5802"/>
              </a:lnSpc>
              <a:spcBef>
                <a:spcPct val="0"/>
              </a:spcBef>
              <a:buFont typeface="Arial"/>
              <a:buChar char="•"/>
            </a:pPr>
            <a:r>
              <a:rPr lang="en-US" sz="4144">
                <a:solidFill>
                  <a:srgbClr val="010101"/>
                </a:solidFill>
                <a:latin typeface="Agrandir"/>
                <a:ea typeface="Agrandir"/>
                <a:cs typeface="Agrandir"/>
                <a:sym typeface="Agrandir"/>
              </a:rPr>
              <a:t>To create an interactive Power BI dashboard that helps the bank make better and faster business decisions.</a:t>
            </a:r>
          </a:p>
          <a:p>
            <a:pPr algn="l">
              <a:lnSpc>
                <a:spcPts val="5802"/>
              </a:lnSpc>
              <a:spcBef>
                <a:spcPct val="0"/>
              </a:spcBef>
            </a:pPr>
            <a:endParaRPr lang="en-US" sz="4144">
              <a:solidFill>
                <a:srgbClr val="01010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299669" y="478795"/>
            <a:ext cx="10359489" cy="1137410"/>
            <a:chOff x="0" y="0"/>
            <a:chExt cx="2389563" cy="262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89563" cy="262360"/>
            </a:xfrm>
            <a:custGeom>
              <a:avLst/>
              <a:gdLst/>
              <a:ahLst/>
              <a:cxnLst/>
              <a:rect l="l" t="t" r="r" b="b"/>
              <a:pathLst>
                <a:path w="2389563" h="262360">
                  <a:moveTo>
                    <a:pt x="2186363" y="0"/>
                  </a:moveTo>
                  <a:cubicBezTo>
                    <a:pt x="2298587" y="0"/>
                    <a:pt x="2389563" y="58731"/>
                    <a:pt x="2389563" y="131180"/>
                  </a:cubicBezTo>
                  <a:cubicBezTo>
                    <a:pt x="2389563" y="203629"/>
                    <a:pt x="2298587" y="262360"/>
                    <a:pt x="2186363" y="262360"/>
                  </a:cubicBezTo>
                  <a:lnTo>
                    <a:pt x="203200" y="262360"/>
                  </a:lnTo>
                  <a:cubicBezTo>
                    <a:pt x="90976" y="262360"/>
                    <a:pt x="0" y="203629"/>
                    <a:pt x="0" y="131180"/>
                  </a:cubicBezTo>
                  <a:cubicBezTo>
                    <a:pt x="0" y="58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389563" cy="300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249974" y="284567"/>
            <a:ext cx="8458879" cy="123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50"/>
              </a:lnSpc>
              <a:spcBef>
                <a:spcPct val="0"/>
              </a:spcBef>
            </a:pPr>
            <a:r>
              <a:rPr lang="en-US" sz="6179">
                <a:solidFill>
                  <a:srgbClr val="7055A7"/>
                </a:solidFill>
                <a:latin typeface="Agrandir"/>
                <a:ea typeface="Agrandir"/>
                <a:cs typeface="Agrandir"/>
                <a:sym typeface="Agrandir"/>
              </a:rPr>
              <a:t>PROJECT OBJECTIVE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12364" y="765770"/>
            <a:ext cx="6780105" cy="678010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08D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970345" y="3455261"/>
            <a:ext cx="8422124" cy="6831739"/>
          </a:xfrm>
          <a:custGeom>
            <a:avLst/>
            <a:gdLst/>
            <a:ahLst/>
            <a:cxnLst/>
            <a:rect l="l" t="t" r="r" b="b"/>
            <a:pathLst>
              <a:path w="8422124" h="6831739">
                <a:moveTo>
                  <a:pt x="0" y="0"/>
                </a:moveTo>
                <a:lnTo>
                  <a:pt x="8422124" y="0"/>
                </a:lnTo>
                <a:lnTo>
                  <a:pt x="8422124" y="6831739"/>
                </a:lnTo>
                <a:lnTo>
                  <a:pt x="0" y="6831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4242" y="904875"/>
            <a:ext cx="12037059" cy="1052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14"/>
              </a:lnSpc>
              <a:spcBef>
                <a:spcPct val="0"/>
              </a:spcBef>
            </a:pPr>
            <a:r>
              <a:rPr lang="en-US" sz="6153">
                <a:solidFill>
                  <a:srgbClr val="7055A7"/>
                </a:solidFill>
                <a:latin typeface="HK Modular"/>
                <a:ea typeface="HK Modular"/>
                <a:cs typeface="HK Modular"/>
                <a:sym typeface="HK Modular"/>
              </a:rPr>
              <a:t>BUSINESS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950" y="2641579"/>
            <a:ext cx="12623643" cy="6939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2" lvl="1" indent="-421001" algn="just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In today’s banking industry ,oraganizations generate a large volume of customers and transaction data daily</a:t>
            </a:r>
          </a:p>
          <a:p>
            <a:pPr marL="842002" lvl="1" indent="-421001" algn="just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Banks struggle to identify valuable customers and understand their transaction behavior.</a:t>
            </a:r>
          </a:p>
          <a:p>
            <a:pPr marL="842002" lvl="1" indent="-421001" algn="just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Managing high-risk customers while maintaining profitability is a major challenge.</a:t>
            </a:r>
          </a:p>
          <a:p>
            <a:pPr marL="842002" lvl="1" indent="-421001" algn="just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Banks need effective customer segmentation to increase loyalty and revenue.</a:t>
            </a:r>
          </a:p>
          <a:p>
            <a:pPr algn="just">
              <a:lnSpc>
                <a:spcPts val="5459"/>
              </a:lnSpc>
              <a:spcBef>
                <a:spcPct val="0"/>
              </a:spcBef>
            </a:pPr>
            <a:endParaRPr lang="en-US" sz="3899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73032"/>
            <a:ext cx="17227088" cy="9955237"/>
            <a:chOff x="0" y="0"/>
            <a:chExt cx="4537175" cy="26219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7175" cy="2621955"/>
            </a:xfrm>
            <a:custGeom>
              <a:avLst/>
              <a:gdLst/>
              <a:ahLst/>
              <a:cxnLst/>
              <a:rect l="l" t="t" r="r" b="b"/>
              <a:pathLst>
                <a:path w="4537175" h="2621955">
                  <a:moveTo>
                    <a:pt x="22920" y="0"/>
                  </a:moveTo>
                  <a:lnTo>
                    <a:pt x="4514256" y="0"/>
                  </a:lnTo>
                  <a:cubicBezTo>
                    <a:pt x="4526914" y="0"/>
                    <a:pt x="4537175" y="10261"/>
                    <a:pt x="4537175" y="22920"/>
                  </a:cubicBezTo>
                  <a:lnTo>
                    <a:pt x="4537175" y="2599036"/>
                  </a:lnTo>
                  <a:cubicBezTo>
                    <a:pt x="4537175" y="2605114"/>
                    <a:pt x="4534761" y="2610944"/>
                    <a:pt x="4530462" y="2615243"/>
                  </a:cubicBezTo>
                  <a:cubicBezTo>
                    <a:pt x="4526164" y="2619541"/>
                    <a:pt x="4520335" y="2621955"/>
                    <a:pt x="4514256" y="2621955"/>
                  </a:cubicBezTo>
                  <a:lnTo>
                    <a:pt x="22920" y="2621955"/>
                  </a:lnTo>
                  <a:cubicBezTo>
                    <a:pt x="16841" y="2621955"/>
                    <a:pt x="11011" y="2619541"/>
                    <a:pt x="6713" y="2615243"/>
                  </a:cubicBezTo>
                  <a:cubicBezTo>
                    <a:pt x="2415" y="2610944"/>
                    <a:pt x="0" y="2605114"/>
                    <a:pt x="0" y="2599036"/>
                  </a:cubicBezTo>
                  <a:lnTo>
                    <a:pt x="0" y="22920"/>
                  </a:lnTo>
                  <a:cubicBezTo>
                    <a:pt x="0" y="16841"/>
                    <a:pt x="2415" y="11011"/>
                    <a:pt x="6713" y="6713"/>
                  </a:cubicBezTo>
                  <a:cubicBezTo>
                    <a:pt x="11011" y="2415"/>
                    <a:pt x="16841" y="0"/>
                    <a:pt x="22920" y="0"/>
                  </a:cubicBezTo>
                  <a:close/>
                </a:path>
              </a:pathLst>
            </a:custGeom>
            <a:solidFill>
              <a:srgbClr val="EFE8F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537175" cy="2726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245D89-4592-5962-02BF-40F80222C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22075"/>
            <a:ext cx="15697200" cy="8929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73032"/>
            <a:ext cx="17227088" cy="9955237"/>
            <a:chOff x="0" y="0"/>
            <a:chExt cx="4537175" cy="26219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7175" cy="2621955"/>
            </a:xfrm>
            <a:custGeom>
              <a:avLst/>
              <a:gdLst/>
              <a:ahLst/>
              <a:cxnLst/>
              <a:rect l="l" t="t" r="r" b="b"/>
              <a:pathLst>
                <a:path w="4537175" h="2621955">
                  <a:moveTo>
                    <a:pt x="22920" y="0"/>
                  </a:moveTo>
                  <a:lnTo>
                    <a:pt x="4514256" y="0"/>
                  </a:lnTo>
                  <a:cubicBezTo>
                    <a:pt x="4526914" y="0"/>
                    <a:pt x="4537175" y="10261"/>
                    <a:pt x="4537175" y="22920"/>
                  </a:cubicBezTo>
                  <a:lnTo>
                    <a:pt x="4537175" y="2599036"/>
                  </a:lnTo>
                  <a:cubicBezTo>
                    <a:pt x="4537175" y="2605114"/>
                    <a:pt x="4534761" y="2610944"/>
                    <a:pt x="4530462" y="2615243"/>
                  </a:cubicBezTo>
                  <a:cubicBezTo>
                    <a:pt x="4526164" y="2619541"/>
                    <a:pt x="4520335" y="2621955"/>
                    <a:pt x="4514256" y="2621955"/>
                  </a:cubicBezTo>
                  <a:lnTo>
                    <a:pt x="22920" y="2621955"/>
                  </a:lnTo>
                  <a:cubicBezTo>
                    <a:pt x="16841" y="2621955"/>
                    <a:pt x="11011" y="2619541"/>
                    <a:pt x="6713" y="2615243"/>
                  </a:cubicBezTo>
                  <a:cubicBezTo>
                    <a:pt x="2415" y="2610944"/>
                    <a:pt x="0" y="2605114"/>
                    <a:pt x="0" y="2599036"/>
                  </a:cubicBezTo>
                  <a:lnTo>
                    <a:pt x="0" y="22920"/>
                  </a:lnTo>
                  <a:cubicBezTo>
                    <a:pt x="0" y="16841"/>
                    <a:pt x="2415" y="11011"/>
                    <a:pt x="6713" y="6713"/>
                  </a:cubicBezTo>
                  <a:cubicBezTo>
                    <a:pt x="11011" y="2415"/>
                    <a:pt x="16841" y="0"/>
                    <a:pt x="22920" y="0"/>
                  </a:cubicBezTo>
                  <a:close/>
                </a:path>
              </a:pathLst>
            </a:custGeom>
            <a:solidFill>
              <a:srgbClr val="EFE8F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537175" cy="2726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619220"/>
            <a:ext cx="16230600" cy="9048559"/>
          </a:xfrm>
          <a:custGeom>
            <a:avLst/>
            <a:gdLst/>
            <a:ahLst/>
            <a:cxnLst/>
            <a:rect l="l" t="t" r="r" b="b"/>
            <a:pathLst>
              <a:path w="16230600" h="9048559">
                <a:moveTo>
                  <a:pt x="0" y="0"/>
                </a:moveTo>
                <a:lnTo>
                  <a:pt x="16230600" y="0"/>
                </a:lnTo>
                <a:lnTo>
                  <a:pt x="16230600" y="9048560"/>
                </a:lnTo>
                <a:lnTo>
                  <a:pt x="0" y="9048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73032"/>
            <a:ext cx="17227088" cy="9955237"/>
            <a:chOff x="0" y="0"/>
            <a:chExt cx="4537175" cy="26219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7175" cy="2621955"/>
            </a:xfrm>
            <a:custGeom>
              <a:avLst/>
              <a:gdLst/>
              <a:ahLst/>
              <a:cxnLst/>
              <a:rect l="l" t="t" r="r" b="b"/>
              <a:pathLst>
                <a:path w="4537175" h="2621955">
                  <a:moveTo>
                    <a:pt x="22920" y="0"/>
                  </a:moveTo>
                  <a:lnTo>
                    <a:pt x="4514256" y="0"/>
                  </a:lnTo>
                  <a:cubicBezTo>
                    <a:pt x="4526914" y="0"/>
                    <a:pt x="4537175" y="10261"/>
                    <a:pt x="4537175" y="22920"/>
                  </a:cubicBezTo>
                  <a:lnTo>
                    <a:pt x="4537175" y="2599036"/>
                  </a:lnTo>
                  <a:cubicBezTo>
                    <a:pt x="4537175" y="2605114"/>
                    <a:pt x="4534761" y="2610944"/>
                    <a:pt x="4530462" y="2615243"/>
                  </a:cubicBezTo>
                  <a:cubicBezTo>
                    <a:pt x="4526164" y="2619541"/>
                    <a:pt x="4520335" y="2621955"/>
                    <a:pt x="4514256" y="2621955"/>
                  </a:cubicBezTo>
                  <a:lnTo>
                    <a:pt x="22920" y="2621955"/>
                  </a:lnTo>
                  <a:cubicBezTo>
                    <a:pt x="16841" y="2621955"/>
                    <a:pt x="11011" y="2619541"/>
                    <a:pt x="6713" y="2615243"/>
                  </a:cubicBezTo>
                  <a:cubicBezTo>
                    <a:pt x="2415" y="2610944"/>
                    <a:pt x="0" y="2605114"/>
                    <a:pt x="0" y="2599036"/>
                  </a:cubicBezTo>
                  <a:lnTo>
                    <a:pt x="0" y="22920"/>
                  </a:lnTo>
                  <a:cubicBezTo>
                    <a:pt x="0" y="16841"/>
                    <a:pt x="2415" y="11011"/>
                    <a:pt x="6713" y="6713"/>
                  </a:cubicBezTo>
                  <a:cubicBezTo>
                    <a:pt x="11011" y="2415"/>
                    <a:pt x="16841" y="0"/>
                    <a:pt x="22920" y="0"/>
                  </a:cubicBezTo>
                  <a:close/>
                </a:path>
              </a:pathLst>
            </a:custGeom>
            <a:solidFill>
              <a:srgbClr val="EFE8F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537175" cy="2726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511805"/>
            <a:ext cx="16230600" cy="9077691"/>
          </a:xfrm>
          <a:custGeom>
            <a:avLst/>
            <a:gdLst/>
            <a:ahLst/>
            <a:cxnLst/>
            <a:rect l="l" t="t" r="r" b="b"/>
            <a:pathLst>
              <a:path w="16230600" h="9077691">
                <a:moveTo>
                  <a:pt x="0" y="0"/>
                </a:moveTo>
                <a:lnTo>
                  <a:pt x="16230600" y="0"/>
                </a:lnTo>
                <a:lnTo>
                  <a:pt x="16230600" y="9077691"/>
                </a:lnTo>
                <a:lnTo>
                  <a:pt x="0" y="9077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53" r="-343" b="-2253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73032"/>
            <a:ext cx="17227088" cy="9955237"/>
            <a:chOff x="0" y="0"/>
            <a:chExt cx="4537175" cy="26219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7175" cy="2621955"/>
            </a:xfrm>
            <a:custGeom>
              <a:avLst/>
              <a:gdLst/>
              <a:ahLst/>
              <a:cxnLst/>
              <a:rect l="l" t="t" r="r" b="b"/>
              <a:pathLst>
                <a:path w="4537175" h="2621955">
                  <a:moveTo>
                    <a:pt x="22920" y="0"/>
                  </a:moveTo>
                  <a:lnTo>
                    <a:pt x="4514256" y="0"/>
                  </a:lnTo>
                  <a:cubicBezTo>
                    <a:pt x="4526914" y="0"/>
                    <a:pt x="4537175" y="10261"/>
                    <a:pt x="4537175" y="22920"/>
                  </a:cubicBezTo>
                  <a:lnTo>
                    <a:pt x="4537175" y="2599036"/>
                  </a:lnTo>
                  <a:cubicBezTo>
                    <a:pt x="4537175" y="2605114"/>
                    <a:pt x="4534761" y="2610944"/>
                    <a:pt x="4530462" y="2615243"/>
                  </a:cubicBezTo>
                  <a:cubicBezTo>
                    <a:pt x="4526164" y="2619541"/>
                    <a:pt x="4520335" y="2621955"/>
                    <a:pt x="4514256" y="2621955"/>
                  </a:cubicBezTo>
                  <a:lnTo>
                    <a:pt x="22920" y="2621955"/>
                  </a:lnTo>
                  <a:cubicBezTo>
                    <a:pt x="16841" y="2621955"/>
                    <a:pt x="11011" y="2619541"/>
                    <a:pt x="6713" y="2615243"/>
                  </a:cubicBezTo>
                  <a:cubicBezTo>
                    <a:pt x="2415" y="2610944"/>
                    <a:pt x="0" y="2605114"/>
                    <a:pt x="0" y="2599036"/>
                  </a:cubicBezTo>
                  <a:lnTo>
                    <a:pt x="0" y="22920"/>
                  </a:lnTo>
                  <a:cubicBezTo>
                    <a:pt x="0" y="16841"/>
                    <a:pt x="2415" y="11011"/>
                    <a:pt x="6713" y="6713"/>
                  </a:cubicBezTo>
                  <a:cubicBezTo>
                    <a:pt x="11011" y="2415"/>
                    <a:pt x="16841" y="0"/>
                    <a:pt x="22920" y="0"/>
                  </a:cubicBezTo>
                  <a:close/>
                </a:path>
              </a:pathLst>
            </a:custGeom>
            <a:solidFill>
              <a:srgbClr val="EFE8F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537175" cy="2726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588788"/>
            <a:ext cx="15769475" cy="8850618"/>
          </a:xfrm>
          <a:custGeom>
            <a:avLst/>
            <a:gdLst/>
            <a:ahLst/>
            <a:cxnLst/>
            <a:rect l="l" t="t" r="r" b="b"/>
            <a:pathLst>
              <a:path w="15769475" h="8850618">
                <a:moveTo>
                  <a:pt x="0" y="0"/>
                </a:moveTo>
                <a:lnTo>
                  <a:pt x="15769475" y="0"/>
                </a:lnTo>
                <a:lnTo>
                  <a:pt x="15769475" y="8850617"/>
                </a:lnTo>
                <a:lnTo>
                  <a:pt x="0" y="8850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42263"/>
            <a:ext cx="16960936" cy="9164071"/>
            <a:chOff x="0" y="0"/>
            <a:chExt cx="4467078" cy="24135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7078" cy="2413582"/>
            </a:xfrm>
            <a:custGeom>
              <a:avLst/>
              <a:gdLst/>
              <a:ahLst/>
              <a:cxnLst/>
              <a:rect l="l" t="t" r="r" b="b"/>
              <a:pathLst>
                <a:path w="4467078" h="2413582">
                  <a:moveTo>
                    <a:pt x="23279" y="0"/>
                  </a:moveTo>
                  <a:lnTo>
                    <a:pt x="4443799" y="0"/>
                  </a:lnTo>
                  <a:cubicBezTo>
                    <a:pt x="4449973" y="0"/>
                    <a:pt x="4455894" y="2453"/>
                    <a:pt x="4460260" y="6818"/>
                  </a:cubicBezTo>
                  <a:cubicBezTo>
                    <a:pt x="4464625" y="11184"/>
                    <a:pt x="4467078" y="17105"/>
                    <a:pt x="4467078" y="23279"/>
                  </a:cubicBezTo>
                  <a:lnTo>
                    <a:pt x="4467078" y="2390303"/>
                  </a:lnTo>
                  <a:cubicBezTo>
                    <a:pt x="4467078" y="2396477"/>
                    <a:pt x="4464625" y="2402398"/>
                    <a:pt x="4460260" y="2406764"/>
                  </a:cubicBezTo>
                  <a:cubicBezTo>
                    <a:pt x="4455894" y="2411130"/>
                    <a:pt x="4449973" y="2413582"/>
                    <a:pt x="4443799" y="2413582"/>
                  </a:cubicBezTo>
                  <a:lnTo>
                    <a:pt x="23279" y="2413582"/>
                  </a:lnTo>
                  <a:cubicBezTo>
                    <a:pt x="17105" y="2413582"/>
                    <a:pt x="11184" y="2411130"/>
                    <a:pt x="6818" y="2406764"/>
                  </a:cubicBezTo>
                  <a:cubicBezTo>
                    <a:pt x="2453" y="2402398"/>
                    <a:pt x="0" y="2396477"/>
                    <a:pt x="0" y="2390303"/>
                  </a:cubicBezTo>
                  <a:lnTo>
                    <a:pt x="0" y="23279"/>
                  </a:lnTo>
                  <a:cubicBezTo>
                    <a:pt x="0" y="17105"/>
                    <a:pt x="2453" y="11184"/>
                    <a:pt x="6818" y="6818"/>
                  </a:cubicBezTo>
                  <a:cubicBezTo>
                    <a:pt x="11184" y="2453"/>
                    <a:pt x="17105" y="0"/>
                    <a:pt x="23279" y="0"/>
                  </a:cubicBezTo>
                  <a:close/>
                </a:path>
              </a:pathLst>
            </a:custGeom>
            <a:solidFill>
              <a:srgbClr val="EFE8F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467078" cy="2518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634310" y="2385831"/>
            <a:ext cx="8278453" cy="936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16"/>
              </a:lnSpc>
              <a:spcBef>
                <a:spcPct val="0"/>
              </a:spcBef>
            </a:pPr>
            <a:r>
              <a:rPr lang="en-US" sz="5511">
                <a:solidFill>
                  <a:srgbClr val="EFE8FE"/>
                </a:solidFill>
                <a:latin typeface="HK Modular"/>
                <a:ea typeface="HK Modular"/>
                <a:cs typeface="HK Modular"/>
                <a:sym typeface="HK Modular"/>
              </a:rPr>
              <a:t>TRADE WAYS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082891"/>
            <a:ext cx="17259300" cy="820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014" lvl="1" indent="-383007" algn="l">
              <a:lnSpc>
                <a:spcPts val="4967"/>
              </a:lnSpc>
              <a:buFont typeface="Arial"/>
              <a:buChar char="•"/>
            </a:pPr>
            <a:r>
              <a:rPr lang="en-US" sz="3548">
                <a:solidFill>
                  <a:srgbClr val="010101"/>
                </a:solidFill>
                <a:latin typeface="Agrandir"/>
                <a:ea typeface="Agrandir"/>
                <a:cs typeface="Agrandir"/>
                <a:sym typeface="Agrandir"/>
              </a:rPr>
              <a:t>The bank serves ~884,000 customers with an average age of ~50 years, dominated by male customers across 9,000+ locations.</a:t>
            </a:r>
          </a:p>
          <a:p>
            <a:pPr marL="766014" lvl="1" indent="-383007" algn="l">
              <a:lnSpc>
                <a:spcPts val="4967"/>
              </a:lnSpc>
              <a:buFont typeface="Arial"/>
              <a:buChar char="•"/>
            </a:pPr>
            <a:r>
              <a:rPr lang="en-US" sz="3548">
                <a:solidFill>
                  <a:srgbClr val="010101"/>
                </a:solidFill>
                <a:latin typeface="Agrandir"/>
                <a:ea typeface="Agrandir"/>
                <a:cs typeface="Agrandir"/>
                <a:sym typeface="Agrandir"/>
              </a:rPr>
              <a:t>Total transaction value is ~₹1.65 billion, but transaction volume shows a declining monthly trend, indicating reduced customer engagement.</a:t>
            </a:r>
          </a:p>
          <a:p>
            <a:pPr marL="766014" lvl="1" indent="-383007" algn="l">
              <a:lnSpc>
                <a:spcPts val="4967"/>
              </a:lnSpc>
              <a:buFont typeface="Arial"/>
              <a:buChar char="•"/>
            </a:pPr>
            <a:r>
              <a:rPr lang="en-US" sz="3548">
                <a:solidFill>
                  <a:srgbClr val="010101"/>
                </a:solidFill>
                <a:latin typeface="Agrandir"/>
                <a:ea typeface="Agrandir"/>
                <a:cs typeface="Agrandir"/>
                <a:sym typeface="Agrandir"/>
              </a:rPr>
              <a:t>Loyal customers form a smaller segment but generate the highest revenue per customer, significantly outperforming new and lost customers.</a:t>
            </a:r>
          </a:p>
          <a:p>
            <a:pPr marL="766014" lvl="1" indent="-383007" algn="l">
              <a:lnSpc>
                <a:spcPts val="4967"/>
              </a:lnSpc>
              <a:buFont typeface="Arial"/>
              <a:buChar char="•"/>
            </a:pPr>
            <a:r>
              <a:rPr lang="en-US" sz="3548">
                <a:solidFill>
                  <a:srgbClr val="010101"/>
                </a:solidFill>
                <a:latin typeface="Agrandir"/>
                <a:ea typeface="Agrandir"/>
                <a:cs typeface="Agrandir"/>
                <a:sym typeface="Agrandir"/>
              </a:rPr>
              <a:t>A large share of customers fall under medium and high-risk categories, with high-risk customers forming the majority of the risk pool.</a:t>
            </a:r>
          </a:p>
          <a:p>
            <a:pPr marL="766014" lvl="1" indent="-383007" algn="l">
              <a:lnSpc>
                <a:spcPts val="4967"/>
              </a:lnSpc>
              <a:buFont typeface="Arial"/>
              <a:buChar char="•"/>
            </a:pPr>
            <a:r>
              <a:rPr lang="en-US" sz="3548">
                <a:solidFill>
                  <a:srgbClr val="010101"/>
                </a:solidFill>
                <a:latin typeface="Agrandir"/>
                <a:ea typeface="Agrandir"/>
                <a:cs typeface="Agrandir"/>
                <a:sym typeface="Agrandir"/>
              </a:rPr>
              <a:t>Moderate-risk customers contribute the highest transaction value, making them the most stable and profitable segment.</a:t>
            </a:r>
          </a:p>
          <a:p>
            <a:pPr marL="766014" lvl="1" indent="-383007" algn="l">
              <a:lnSpc>
                <a:spcPts val="4967"/>
              </a:lnSpc>
              <a:spcBef>
                <a:spcPct val="0"/>
              </a:spcBef>
              <a:buFont typeface="Arial"/>
              <a:buChar char="•"/>
            </a:pPr>
            <a:r>
              <a:rPr lang="en-US" sz="3548">
                <a:solidFill>
                  <a:srgbClr val="010101"/>
                </a:solidFill>
                <a:latin typeface="Agrandir"/>
                <a:ea typeface="Agrandir"/>
                <a:cs typeface="Agrandir"/>
                <a:sym typeface="Agrandir"/>
              </a:rPr>
              <a:t>Transactions peak during afternoon and evening hours, with the average transaction value ~₹1.57K and a maximum single transaction of ~₹1.56M.</a:t>
            </a:r>
          </a:p>
          <a:p>
            <a:pPr algn="l">
              <a:lnSpc>
                <a:spcPts val="4967"/>
              </a:lnSpc>
              <a:spcBef>
                <a:spcPct val="0"/>
              </a:spcBef>
            </a:pPr>
            <a:endParaRPr lang="en-US" sz="3548">
              <a:solidFill>
                <a:srgbClr val="010101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329423" y="459995"/>
            <a:ext cx="10359489" cy="1137410"/>
            <a:chOff x="0" y="0"/>
            <a:chExt cx="2389563" cy="2623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563" cy="262360"/>
            </a:xfrm>
            <a:custGeom>
              <a:avLst/>
              <a:gdLst/>
              <a:ahLst/>
              <a:cxnLst/>
              <a:rect l="l" t="t" r="r" b="b"/>
              <a:pathLst>
                <a:path w="2389563" h="262360">
                  <a:moveTo>
                    <a:pt x="2186363" y="0"/>
                  </a:moveTo>
                  <a:cubicBezTo>
                    <a:pt x="2298587" y="0"/>
                    <a:pt x="2389563" y="58731"/>
                    <a:pt x="2389563" y="131180"/>
                  </a:cubicBezTo>
                  <a:cubicBezTo>
                    <a:pt x="2389563" y="203629"/>
                    <a:pt x="2298587" y="262360"/>
                    <a:pt x="2186363" y="262360"/>
                  </a:cubicBezTo>
                  <a:lnTo>
                    <a:pt x="203200" y="262360"/>
                  </a:lnTo>
                  <a:cubicBezTo>
                    <a:pt x="90976" y="262360"/>
                    <a:pt x="0" y="203629"/>
                    <a:pt x="0" y="131180"/>
                  </a:cubicBezTo>
                  <a:cubicBezTo>
                    <a:pt x="0" y="5873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389563" cy="300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249974" y="284567"/>
            <a:ext cx="8458879" cy="123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50"/>
              </a:lnSpc>
              <a:spcBef>
                <a:spcPct val="0"/>
              </a:spcBef>
            </a:pPr>
            <a:r>
              <a:rPr lang="en-US" sz="6179" b="1">
                <a:solidFill>
                  <a:srgbClr val="7055A7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55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07430" y="748763"/>
            <a:ext cx="3166893" cy="867442"/>
            <a:chOff x="0" y="0"/>
            <a:chExt cx="1483701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701" cy="406400"/>
            </a:xfrm>
            <a:custGeom>
              <a:avLst/>
              <a:gdLst/>
              <a:ahLst/>
              <a:cxnLst/>
              <a:rect l="l" t="t" r="r" b="b"/>
              <a:pathLst>
                <a:path w="1483701" h="406400">
                  <a:moveTo>
                    <a:pt x="1280501" y="0"/>
                  </a:moveTo>
                  <a:cubicBezTo>
                    <a:pt x="1392726" y="0"/>
                    <a:pt x="1483701" y="90976"/>
                    <a:pt x="1483701" y="203200"/>
                  </a:cubicBezTo>
                  <a:cubicBezTo>
                    <a:pt x="1483701" y="315424"/>
                    <a:pt x="1392726" y="406400"/>
                    <a:pt x="128050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8D8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8370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60966" y="231877"/>
            <a:ext cx="12994953" cy="1782588"/>
            <a:chOff x="0" y="0"/>
            <a:chExt cx="3422539" cy="4694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2539" cy="469488"/>
            </a:xfrm>
            <a:custGeom>
              <a:avLst/>
              <a:gdLst/>
              <a:ahLst/>
              <a:cxnLst/>
              <a:rect l="l" t="t" r="r" b="b"/>
              <a:pathLst>
                <a:path w="3422539" h="469488">
                  <a:moveTo>
                    <a:pt x="30384" y="0"/>
                  </a:moveTo>
                  <a:lnTo>
                    <a:pt x="3392155" y="0"/>
                  </a:lnTo>
                  <a:cubicBezTo>
                    <a:pt x="3408936" y="0"/>
                    <a:pt x="3422539" y="13603"/>
                    <a:pt x="3422539" y="30384"/>
                  </a:cubicBezTo>
                  <a:lnTo>
                    <a:pt x="3422539" y="439104"/>
                  </a:lnTo>
                  <a:cubicBezTo>
                    <a:pt x="3422539" y="447163"/>
                    <a:pt x="3419338" y="454891"/>
                    <a:pt x="3413640" y="460589"/>
                  </a:cubicBezTo>
                  <a:cubicBezTo>
                    <a:pt x="3407942" y="466287"/>
                    <a:pt x="3400213" y="469488"/>
                    <a:pt x="3392155" y="469488"/>
                  </a:cubicBezTo>
                  <a:lnTo>
                    <a:pt x="30384" y="469488"/>
                  </a:lnTo>
                  <a:cubicBezTo>
                    <a:pt x="13603" y="469488"/>
                    <a:pt x="0" y="455885"/>
                    <a:pt x="0" y="439104"/>
                  </a:cubicBezTo>
                  <a:lnTo>
                    <a:pt x="0" y="30384"/>
                  </a:lnTo>
                  <a:cubicBezTo>
                    <a:pt x="0" y="22326"/>
                    <a:pt x="3201" y="14597"/>
                    <a:pt x="8899" y="8899"/>
                  </a:cubicBezTo>
                  <a:cubicBezTo>
                    <a:pt x="14597" y="3201"/>
                    <a:pt x="22326" y="0"/>
                    <a:pt x="30384" y="0"/>
                  </a:cubicBezTo>
                  <a:close/>
                </a:path>
              </a:pathLst>
            </a:custGeom>
            <a:solidFill>
              <a:srgbClr val="FEC9E4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3422539" cy="574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854146" y="2376415"/>
            <a:ext cx="810309" cy="810309"/>
          </a:xfrm>
          <a:custGeom>
            <a:avLst/>
            <a:gdLst/>
            <a:ahLst/>
            <a:cxnLst/>
            <a:rect l="l" t="t" r="r" b="b"/>
            <a:pathLst>
              <a:path w="810309" h="810309">
                <a:moveTo>
                  <a:pt x="0" y="0"/>
                </a:moveTo>
                <a:lnTo>
                  <a:pt x="810308" y="0"/>
                </a:lnTo>
                <a:lnTo>
                  <a:pt x="810308" y="810309"/>
                </a:lnTo>
                <a:lnTo>
                  <a:pt x="0" y="810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997250" y="2257805"/>
            <a:ext cx="12994953" cy="7505430"/>
            <a:chOff x="0" y="0"/>
            <a:chExt cx="3422539" cy="1976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22539" cy="1976739"/>
            </a:xfrm>
            <a:custGeom>
              <a:avLst/>
              <a:gdLst/>
              <a:ahLst/>
              <a:cxnLst/>
              <a:rect l="l" t="t" r="r" b="b"/>
              <a:pathLst>
                <a:path w="3422539" h="1976739">
                  <a:moveTo>
                    <a:pt x="30384" y="0"/>
                  </a:moveTo>
                  <a:lnTo>
                    <a:pt x="3392155" y="0"/>
                  </a:lnTo>
                  <a:cubicBezTo>
                    <a:pt x="3408936" y="0"/>
                    <a:pt x="3422539" y="13603"/>
                    <a:pt x="3422539" y="30384"/>
                  </a:cubicBezTo>
                  <a:lnTo>
                    <a:pt x="3422539" y="1946355"/>
                  </a:lnTo>
                  <a:cubicBezTo>
                    <a:pt x="3422539" y="1954413"/>
                    <a:pt x="3419338" y="1962141"/>
                    <a:pt x="3413640" y="1967840"/>
                  </a:cubicBezTo>
                  <a:cubicBezTo>
                    <a:pt x="3407942" y="1973538"/>
                    <a:pt x="3400213" y="1976739"/>
                    <a:pt x="3392155" y="1976739"/>
                  </a:cubicBezTo>
                  <a:lnTo>
                    <a:pt x="30384" y="1976739"/>
                  </a:lnTo>
                  <a:cubicBezTo>
                    <a:pt x="13603" y="1976739"/>
                    <a:pt x="0" y="1963135"/>
                    <a:pt x="0" y="1946355"/>
                  </a:cubicBezTo>
                  <a:lnTo>
                    <a:pt x="0" y="30384"/>
                  </a:lnTo>
                  <a:cubicBezTo>
                    <a:pt x="0" y="22326"/>
                    <a:pt x="3201" y="14597"/>
                    <a:pt x="8899" y="8899"/>
                  </a:cubicBezTo>
                  <a:cubicBezTo>
                    <a:pt x="14597" y="3201"/>
                    <a:pt x="22326" y="0"/>
                    <a:pt x="30384" y="0"/>
                  </a:cubicBezTo>
                  <a:close/>
                </a:path>
              </a:pathLst>
            </a:custGeom>
            <a:solidFill>
              <a:srgbClr val="EFE8F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3422539" cy="2081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380325"/>
            <a:ext cx="5893033" cy="6318067"/>
          </a:xfrm>
          <a:custGeom>
            <a:avLst/>
            <a:gdLst/>
            <a:ahLst/>
            <a:cxnLst/>
            <a:rect l="l" t="t" r="r" b="b"/>
            <a:pathLst>
              <a:path w="5893033" h="6318067">
                <a:moveTo>
                  <a:pt x="0" y="0"/>
                </a:moveTo>
                <a:lnTo>
                  <a:pt x="5893033" y="0"/>
                </a:lnTo>
                <a:lnTo>
                  <a:pt x="5893033" y="6318067"/>
                </a:lnTo>
                <a:lnTo>
                  <a:pt x="0" y="63180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4368354"/>
            <a:ext cx="3957689" cy="4114800"/>
          </a:xfrm>
          <a:custGeom>
            <a:avLst/>
            <a:gdLst/>
            <a:ahLst/>
            <a:cxnLst/>
            <a:rect l="l" t="t" r="r" b="b"/>
            <a:pathLst>
              <a:path w="3957689" h="4114800">
                <a:moveTo>
                  <a:pt x="0" y="0"/>
                </a:moveTo>
                <a:lnTo>
                  <a:pt x="3957689" y="0"/>
                </a:lnTo>
                <a:lnTo>
                  <a:pt x="39576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517491" y="643988"/>
            <a:ext cx="8920889" cy="936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16"/>
              </a:lnSpc>
              <a:spcBef>
                <a:spcPct val="0"/>
              </a:spcBef>
            </a:pPr>
            <a:r>
              <a:rPr lang="en-US" sz="5511">
                <a:solidFill>
                  <a:srgbClr val="7055A7"/>
                </a:solidFill>
                <a:latin typeface="HK Modular"/>
                <a:ea typeface="HK Modular"/>
                <a:cs typeface="HK Modular"/>
                <a:sym typeface="HK Modular"/>
              </a:rPr>
              <a:t>CONCLUSIONS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41353" y="2486183"/>
            <a:ext cx="11814567" cy="7277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9075" lvl="1" indent="-364538" algn="l">
              <a:lnSpc>
                <a:spcPts val="4727"/>
              </a:lnSpc>
              <a:buFont typeface="Arial"/>
              <a:buChar char="•"/>
            </a:pPr>
            <a:r>
              <a:rPr lang="en-US" sz="33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The bank has a large and diverse customer base, mainly middle-aged and adult customers.</a:t>
            </a:r>
          </a:p>
          <a:p>
            <a:pPr marL="729075" lvl="1" indent="-364538" algn="l">
              <a:lnSpc>
                <a:spcPts val="4727"/>
              </a:lnSpc>
              <a:buFont typeface="Arial"/>
              <a:buChar char="•"/>
            </a:pPr>
            <a:r>
              <a:rPr lang="en-US" sz="33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Transaction activity is consistent, with higher activity during specific days and time slots.</a:t>
            </a:r>
          </a:p>
          <a:p>
            <a:pPr marL="729075" lvl="1" indent="-364538" algn="l">
              <a:lnSpc>
                <a:spcPts val="4727"/>
              </a:lnSpc>
              <a:buFont typeface="Arial"/>
              <a:buChar char="•"/>
            </a:pPr>
            <a:r>
              <a:rPr lang="en-US" sz="33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Loyal customers generate higher revenue, while a large number of customers fall under lost or dormant segments.</a:t>
            </a:r>
          </a:p>
          <a:p>
            <a:pPr marL="729075" lvl="1" indent="-364538" algn="l">
              <a:lnSpc>
                <a:spcPts val="4727"/>
              </a:lnSpc>
              <a:buFont typeface="Arial"/>
              <a:buChar char="•"/>
            </a:pPr>
            <a:r>
              <a:rPr lang="en-US" sz="33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 significant portion of customers belong to medium and high-risk categories.</a:t>
            </a:r>
          </a:p>
          <a:p>
            <a:pPr marL="729075" lvl="1" indent="-364538" algn="l">
              <a:lnSpc>
                <a:spcPts val="4727"/>
              </a:lnSpc>
              <a:buFont typeface="Arial"/>
              <a:buChar char="•"/>
            </a:pPr>
            <a:r>
              <a:rPr lang="en-US" sz="337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Some high-risk customers also contribute high revenue, requiring careful monitoring.</a:t>
            </a:r>
          </a:p>
          <a:p>
            <a:pPr algn="l">
              <a:lnSpc>
                <a:spcPts val="4727"/>
              </a:lnSpc>
              <a:spcBef>
                <a:spcPct val="0"/>
              </a:spcBef>
            </a:pPr>
            <a:endParaRPr lang="en-US" sz="3376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07430" y="748763"/>
            <a:ext cx="3166893" cy="867442"/>
            <a:chOff x="0" y="0"/>
            <a:chExt cx="1483701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3701" cy="406400"/>
            </a:xfrm>
            <a:custGeom>
              <a:avLst/>
              <a:gdLst/>
              <a:ahLst/>
              <a:cxnLst/>
              <a:rect l="l" t="t" r="r" b="b"/>
              <a:pathLst>
                <a:path w="1483701" h="406400">
                  <a:moveTo>
                    <a:pt x="1280501" y="0"/>
                  </a:moveTo>
                  <a:cubicBezTo>
                    <a:pt x="1392726" y="0"/>
                    <a:pt x="1483701" y="90976"/>
                    <a:pt x="1483701" y="203200"/>
                  </a:cubicBezTo>
                  <a:cubicBezTo>
                    <a:pt x="1483701" y="315424"/>
                    <a:pt x="1392726" y="406400"/>
                    <a:pt x="128050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8D8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8370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79097"/>
            <a:ext cx="11559290" cy="2206774"/>
          </a:xfrm>
          <a:custGeom>
            <a:avLst/>
            <a:gdLst/>
            <a:ahLst/>
            <a:cxnLst/>
            <a:rect l="l" t="t" r="r" b="b"/>
            <a:pathLst>
              <a:path w="11559290" h="2206774">
                <a:moveTo>
                  <a:pt x="0" y="0"/>
                </a:moveTo>
                <a:lnTo>
                  <a:pt x="11559290" y="0"/>
                </a:lnTo>
                <a:lnTo>
                  <a:pt x="11559290" y="2206774"/>
                </a:lnTo>
                <a:lnTo>
                  <a:pt x="0" y="2206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53264" y="2541360"/>
            <a:ext cx="12163100" cy="7507273"/>
            <a:chOff x="0" y="0"/>
            <a:chExt cx="3203450" cy="19772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03450" cy="1977224"/>
            </a:xfrm>
            <a:custGeom>
              <a:avLst/>
              <a:gdLst/>
              <a:ahLst/>
              <a:cxnLst/>
              <a:rect l="l" t="t" r="r" b="b"/>
              <a:pathLst>
                <a:path w="3203450" h="1977224">
                  <a:moveTo>
                    <a:pt x="32462" y="0"/>
                  </a:moveTo>
                  <a:lnTo>
                    <a:pt x="3170988" y="0"/>
                  </a:lnTo>
                  <a:cubicBezTo>
                    <a:pt x="3188916" y="0"/>
                    <a:pt x="3203450" y="14534"/>
                    <a:pt x="3203450" y="32462"/>
                  </a:cubicBezTo>
                  <a:lnTo>
                    <a:pt x="3203450" y="1944762"/>
                  </a:lnTo>
                  <a:cubicBezTo>
                    <a:pt x="3203450" y="1962691"/>
                    <a:pt x="3188916" y="1977224"/>
                    <a:pt x="3170988" y="1977224"/>
                  </a:cubicBezTo>
                  <a:lnTo>
                    <a:pt x="32462" y="1977224"/>
                  </a:lnTo>
                  <a:cubicBezTo>
                    <a:pt x="14534" y="1977224"/>
                    <a:pt x="0" y="1962691"/>
                    <a:pt x="0" y="1944762"/>
                  </a:cubicBezTo>
                  <a:lnTo>
                    <a:pt x="0" y="32462"/>
                  </a:lnTo>
                  <a:cubicBezTo>
                    <a:pt x="0" y="14534"/>
                    <a:pt x="14534" y="0"/>
                    <a:pt x="32462" y="0"/>
                  </a:cubicBezTo>
                  <a:close/>
                </a:path>
              </a:pathLst>
            </a:custGeom>
            <a:solidFill>
              <a:srgbClr val="7055A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3203450" cy="2081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559290" y="1804933"/>
            <a:ext cx="8461807" cy="6677135"/>
          </a:xfrm>
          <a:custGeom>
            <a:avLst/>
            <a:gdLst/>
            <a:ahLst/>
            <a:cxnLst/>
            <a:rect l="l" t="t" r="r" b="b"/>
            <a:pathLst>
              <a:path w="8461807" h="6677135">
                <a:moveTo>
                  <a:pt x="0" y="0"/>
                </a:moveTo>
                <a:lnTo>
                  <a:pt x="8461807" y="0"/>
                </a:lnTo>
                <a:lnTo>
                  <a:pt x="8461807" y="6677134"/>
                </a:lnTo>
                <a:lnTo>
                  <a:pt x="0" y="66771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53264" y="465815"/>
            <a:ext cx="9271565" cy="85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16"/>
              </a:lnSpc>
              <a:spcBef>
                <a:spcPct val="0"/>
              </a:spcBef>
            </a:pPr>
            <a:r>
              <a:rPr lang="en-US" sz="5011">
                <a:solidFill>
                  <a:srgbClr val="7055A7"/>
                </a:solidFill>
                <a:latin typeface="HK Modular"/>
                <a:ea typeface="HK Modular"/>
                <a:cs typeface="HK Modular"/>
                <a:sym typeface="HK Modular"/>
              </a:rPr>
              <a:t>RECOMMENDATIONS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8933" y="3010370"/>
            <a:ext cx="12025001" cy="72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2657" lvl="1" indent="-366329" algn="l">
              <a:lnSpc>
                <a:spcPts val="4750"/>
              </a:lnSpc>
              <a:buFont typeface="Arial"/>
              <a:buChar char="•"/>
            </a:pPr>
            <a:r>
              <a:rPr lang="en-US" sz="3393">
                <a:solidFill>
                  <a:srgbClr val="EFE8FE"/>
                </a:solidFill>
                <a:latin typeface="Agrandir"/>
                <a:ea typeface="Agrandir"/>
                <a:cs typeface="Agrandir"/>
                <a:sym typeface="Agrandir"/>
              </a:rPr>
              <a:t>Focus on loyal customers by offering rewards, personalized offers, and premium services to retain them.</a:t>
            </a:r>
          </a:p>
          <a:p>
            <a:pPr marL="732657" lvl="1" indent="-366329" algn="l">
              <a:lnSpc>
                <a:spcPts val="4750"/>
              </a:lnSpc>
              <a:buFont typeface="Arial"/>
              <a:buChar char="•"/>
            </a:pPr>
            <a:r>
              <a:rPr lang="en-US" sz="3393">
                <a:solidFill>
                  <a:srgbClr val="EFE8FE"/>
                </a:solidFill>
                <a:latin typeface="Agrandir"/>
                <a:ea typeface="Agrandir"/>
                <a:cs typeface="Agrandir"/>
                <a:sym typeface="Agrandir"/>
              </a:rPr>
              <a:t>Re-engage lost and dormant customers through targeted campaigns and special incentives.</a:t>
            </a:r>
          </a:p>
          <a:p>
            <a:pPr marL="732657" lvl="1" indent="-366329" algn="l">
              <a:lnSpc>
                <a:spcPts val="4750"/>
              </a:lnSpc>
              <a:buFont typeface="Arial"/>
              <a:buChar char="•"/>
            </a:pPr>
            <a:r>
              <a:rPr lang="en-US" sz="3393">
                <a:solidFill>
                  <a:srgbClr val="EFE8FE"/>
                </a:solidFill>
                <a:latin typeface="Agrandir"/>
                <a:ea typeface="Agrandir"/>
                <a:cs typeface="Agrandir"/>
                <a:sym typeface="Agrandir"/>
              </a:rPr>
              <a:t>Monitor high-revenue but high-risk customers closely to reduce financial risk.</a:t>
            </a:r>
          </a:p>
          <a:p>
            <a:pPr marL="732657" lvl="1" indent="-366329" algn="l">
              <a:lnSpc>
                <a:spcPts val="4750"/>
              </a:lnSpc>
              <a:buFont typeface="Arial"/>
              <a:buChar char="•"/>
            </a:pPr>
            <a:r>
              <a:rPr lang="en-US" sz="3393">
                <a:solidFill>
                  <a:srgbClr val="EFE8FE"/>
                </a:solidFill>
                <a:latin typeface="Agrandir"/>
                <a:ea typeface="Agrandir"/>
                <a:cs typeface="Agrandir"/>
                <a:sym typeface="Agrandir"/>
              </a:rPr>
              <a:t>Use customer age, location, and transaction patterns for targeted marketing strategies.</a:t>
            </a:r>
          </a:p>
          <a:p>
            <a:pPr marL="732657" lvl="1" indent="-366329" algn="l">
              <a:lnSpc>
                <a:spcPts val="4750"/>
              </a:lnSpc>
              <a:spcBef>
                <a:spcPct val="0"/>
              </a:spcBef>
              <a:buFont typeface="Arial"/>
              <a:buChar char="•"/>
            </a:pPr>
            <a:r>
              <a:rPr lang="en-US" sz="3393">
                <a:solidFill>
                  <a:srgbClr val="EFE8FE"/>
                </a:solidFill>
                <a:latin typeface="Agrandir"/>
                <a:ea typeface="Agrandir"/>
                <a:cs typeface="Agrandir"/>
                <a:sym typeface="Agrandir"/>
              </a:rPr>
              <a:t>Improve risk management by adjusting credit policies for high-risk segments</a:t>
            </a:r>
          </a:p>
          <a:p>
            <a:pPr algn="l">
              <a:lnSpc>
                <a:spcPts val="4750"/>
              </a:lnSpc>
              <a:spcBef>
                <a:spcPct val="0"/>
              </a:spcBef>
            </a:pPr>
            <a:endParaRPr lang="en-US" sz="3393">
              <a:solidFill>
                <a:srgbClr val="EFE8FE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92761"/>
            <a:ext cx="18288000" cy="6101479"/>
            <a:chOff x="0" y="0"/>
            <a:chExt cx="4816593" cy="16069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606974"/>
            </a:xfrm>
            <a:custGeom>
              <a:avLst/>
              <a:gdLst/>
              <a:ahLst/>
              <a:cxnLst/>
              <a:rect l="l" t="t" r="r" b="b"/>
              <a:pathLst>
                <a:path w="4816592" h="1606974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1585384"/>
                  </a:lnTo>
                  <a:cubicBezTo>
                    <a:pt x="4816592" y="1597308"/>
                    <a:pt x="4806926" y="1606974"/>
                    <a:pt x="4795002" y="1606974"/>
                  </a:cubicBezTo>
                  <a:lnTo>
                    <a:pt x="21590" y="1606974"/>
                  </a:lnTo>
                  <a:cubicBezTo>
                    <a:pt x="15864" y="1606974"/>
                    <a:pt x="10372" y="1604699"/>
                    <a:pt x="6324" y="1600650"/>
                  </a:cubicBezTo>
                  <a:cubicBezTo>
                    <a:pt x="2275" y="1596601"/>
                    <a:pt x="0" y="1591110"/>
                    <a:pt x="0" y="158538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C0C7F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4816593" cy="1711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628900" y="6335487"/>
            <a:ext cx="7315200" cy="4083212"/>
          </a:xfrm>
          <a:custGeom>
            <a:avLst/>
            <a:gdLst/>
            <a:ahLst/>
            <a:cxnLst/>
            <a:rect l="l" t="t" r="r" b="b"/>
            <a:pathLst>
              <a:path w="7315200" h="4083212">
                <a:moveTo>
                  <a:pt x="0" y="0"/>
                </a:moveTo>
                <a:lnTo>
                  <a:pt x="7315200" y="0"/>
                </a:lnTo>
                <a:lnTo>
                  <a:pt x="7315200" y="4083211"/>
                </a:lnTo>
                <a:lnTo>
                  <a:pt x="0" y="4083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335865" y="-330985"/>
            <a:ext cx="7315200" cy="4083212"/>
          </a:xfrm>
          <a:custGeom>
            <a:avLst/>
            <a:gdLst/>
            <a:ahLst/>
            <a:cxnLst/>
            <a:rect l="l" t="t" r="r" b="b"/>
            <a:pathLst>
              <a:path w="7315200" h="4083212">
                <a:moveTo>
                  <a:pt x="0" y="0"/>
                </a:moveTo>
                <a:lnTo>
                  <a:pt x="7315200" y="0"/>
                </a:lnTo>
                <a:lnTo>
                  <a:pt x="7315200" y="4083211"/>
                </a:lnTo>
                <a:lnTo>
                  <a:pt x="0" y="4083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377977" y="8507958"/>
            <a:ext cx="3612266" cy="1500684"/>
          </a:xfrm>
          <a:custGeom>
            <a:avLst/>
            <a:gdLst/>
            <a:ahLst/>
            <a:cxnLst/>
            <a:rect l="l" t="t" r="r" b="b"/>
            <a:pathLst>
              <a:path w="3612266" h="1500684">
                <a:moveTo>
                  <a:pt x="0" y="0"/>
                </a:moveTo>
                <a:lnTo>
                  <a:pt x="3612266" y="0"/>
                </a:lnTo>
                <a:lnTo>
                  <a:pt x="3612266" y="1500684"/>
                </a:lnTo>
                <a:lnTo>
                  <a:pt x="0" y="1500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10023" y="4452211"/>
            <a:ext cx="10467954" cy="1547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46"/>
              </a:lnSpc>
              <a:spcBef>
                <a:spcPct val="0"/>
              </a:spcBef>
            </a:pPr>
            <a:r>
              <a:rPr lang="en-US" sz="9032">
                <a:solidFill>
                  <a:srgbClr val="7055A7"/>
                </a:solidFill>
                <a:latin typeface="HK Modular"/>
                <a:ea typeface="HK Modular"/>
                <a:cs typeface="HK Modular"/>
                <a:sym typeface="HK Modular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Office PowerPoint</Application>
  <PresentationFormat>Custom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HK Modular</vt:lpstr>
      <vt:lpstr>Agrandir</vt:lpstr>
      <vt:lpstr>Calibri</vt:lpstr>
      <vt:lpstr>Arial</vt:lpstr>
      <vt:lpstr>Agrandir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SEGMENTATION</dc:title>
  <cp:lastModifiedBy>jyadavalli1@gmail.com</cp:lastModifiedBy>
  <cp:revision>2</cp:revision>
  <dcterms:created xsi:type="dcterms:W3CDTF">2006-08-16T00:00:00Z</dcterms:created>
  <dcterms:modified xsi:type="dcterms:W3CDTF">2026-01-03T09:22:43Z</dcterms:modified>
  <dc:identifier>DAG8962_m5s</dc:identifier>
</cp:coreProperties>
</file>